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3400" b="1">
                <a:solidFill>
                  <a:srgbClr val="142A5A"/>
                </a:solidFill>
              </a:rPr>
              <a:t>PAULIGUARD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42A5A"/>
                </a:solidFill>
              </a:rPr>
              <a:t>Problem Statement ID — 26141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42A5A"/>
                </a:solidFill>
              </a:rPr>
              <a:t>Problem Statement Title — Quantum-Inspired Cyber Threat Detection for Digital Signature Security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42A5A"/>
                </a:solidFill>
              </a:rPr>
              <a:t>Theme — Blockchain &amp; Cybersecurity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42A5A"/>
                </a:solidFill>
              </a:rPr>
              <a:t>PS Category — Software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42A5A"/>
                </a:solidFill>
              </a:rPr>
              <a:t>Organisation — Egreen Quanta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42A5A"/>
                </a:solidFill>
              </a:rPr>
              <a:t>Team ID — &lt;your team ID&gt;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42A5A"/>
                </a:solidFill>
              </a:rPr>
              <a:t>Team Name — &lt;registered 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3000" b="1">
                <a:solidFill>
                  <a:srgbClr val="142A5A"/>
                </a:solidFill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PauliGuard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9184" y="1115568"/>
            <a:ext cx="11521440" cy="749808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B91C1C"/>
                </a:solidFill>
              </a:rPr>
              <a:t>A forgery against the target scheme succeeds with probability 1.0 — and the statistical detection this problem statement prescribes catches it 0.000 of the time. That is not a tuning gap. We prove it is an impossibility.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29184" y="1993392"/>
            <a:ext cx="2788920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PauliGuard screens teleportation-based quantum signature protocols for attacks, before deployment.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A protocol is written as a YAML spec, executed exactly (Bell states, teleportation, Pauli correction, projective measurement), attacked from a catalogue, and judged by four independent detection layers.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44A55"/>
                </a:solidFill>
              </a:rPr>
              <a:t>Working software: 208 tests, 4 schemes, live web UI.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27832" y="1993392"/>
            <a:ext cx="2788920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HOW IT ADDRESSES THE PROBLEM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We implement the PS's prescribed method properly — Pauli eigenstates, projective measurement, statistical thresholds — as layers L1 and L2, with derived (never tuned) bounds.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Then we measure exactly where it works and where it cannot: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5713D"/>
                </a:solidFill>
              </a:rPr>
              <a:t>L1 detects channel manipulation 1.000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</a:rPr>
              <a:t>L1 detects Pauli forgery 0.000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L0 catches replay &amp; key-reuse 1.000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126480" y="1993392"/>
            <a:ext cx="2788920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INNOVATION AND UNIQUENESS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A fourth layer the PS does not ask for: L3 solves for the subspace of Pauli operators leaving every verification predicate invariant — GF(2) linear algebra, not sampling.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It emits a certificate confirmed by execution before it is shown, so precision is 1 by construction.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44A55"/>
                </a:solidFill>
              </a:rPr>
              <a:t>No AI/ML anywhere in the detection path, as the PS requires.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444A55"/>
                </a:solidFill>
              </a:rPr>
              <a:t>We also ship the fix: adding a SWAP test cuts the forgery 286x.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9025128" y="1993392"/>
            <a:ext cx="2825496" cy="2212848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9098280" y="2212848"/>
            <a:ext cx="2697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>
                <a:solidFill>
                  <a:srgbClr val="B91C1C"/>
                </a:solidFill>
              </a:rPr>
              <a:t>0.000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9098280" y="3127248"/>
            <a:ext cx="2697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444A55"/>
                </a:solidFill>
              </a:rPr>
              <a:t>Detection rate of the prescribed statistical method against a forgery that succeeds with probability 1.0 — measured at every noise level tested (n=300, 95% CI [0.000, 0.012]).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329184" y="4334256"/>
            <a:ext cx="11521440" cy="1874519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THE FOUR-LINE PROOF  (why no threshold could ever work)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Trent's check is  E_k|P&gt; = |S&gt;.  The adversary is a legitimate participant: he applies Pauli U to the message copy and V = E_k U E_k^-1 to the signature.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Because E_k is a Clifford operation, V is again a Pauli, and V does not depend on the message. So  E_k(U|P&gt;) = V(E_k|P&gt;) = V|S&gt;  — the check passes identically, for every key.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44A55"/>
                </a:solidFill>
              </a:rPr>
              <a:t>Every encrypted register is maximally mixed without the key, and a unitary on the maximally mixed state returns it unchanged. Decoys untouched. Entangled resource untouched.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</a:rPr>
              <a:t>Therefore the honest and forged executions are the SAME DENSITY MATRIX. We measured trace distance = 0.000e+00 and total-variation distance = 0.000e+00 across 40 random measurement bases. No measurement — not a cleverer basis, not a collective one — can separate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2A5A"/>
                </a:solidFill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PauliGuard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60704"/>
            <a:ext cx="11521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42A5A"/>
                </a:solidFill>
              </a:rPr>
              <a:t>SYSTEM ARCHITECTURE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335024"/>
            <a:ext cx="1700784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/>
            <a:r>
              <a:rPr sz="1000" b="1">
                <a:solidFill>
                  <a:srgbClr val="142A5A"/>
                </a:solidFill>
              </a:rPr>
              <a:t>PROTOCOL SPEC</a:t>
            </a:r>
          </a:p>
          <a:p>
            <a:pPr algn="ctr"/>
            <a:r>
              <a:rPr sz="800">
                <a:solidFill>
                  <a:srgbClr val="444A55"/>
                </a:solidFill>
              </a:rPr>
              <a:t>YAML · discovered from disk</a:t>
            </a:r>
            <a:br/>
            <a:r>
              <a:rPr sz="800">
                <a:solidFill>
                  <a:srgbClr val="444A55"/>
                </a:solidFill>
              </a:rPr>
              <a:t>4 schemes shipped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2103120" y="1655064"/>
            <a:ext cx="274320" cy="14630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450592" y="1335024"/>
            <a:ext cx="1700784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/>
            <a:r>
              <a:rPr sz="1000" b="1">
                <a:solidFill>
                  <a:srgbClr val="142A5A"/>
                </a:solidFill>
              </a:rPr>
              <a:t>ENGINE</a:t>
            </a:r>
          </a:p>
          <a:p>
            <a:pPr algn="ctr"/>
            <a:r>
              <a:rPr sz="800">
                <a:solidFill>
                  <a:srgbClr val="444A55"/>
                </a:solidFill>
              </a:rPr>
              <a:t>Stim stabilizer sim</a:t>
            </a:r>
            <a:br/>
            <a:r>
              <a:rPr sz="800">
                <a:solidFill>
                  <a:srgbClr val="444A55"/>
                </a:solidFill>
              </a:rPr>
              <a:t>exact, O(n^2)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4224528" y="1655064"/>
            <a:ext cx="274320" cy="14630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572000" y="1335024"/>
            <a:ext cx="157276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/>
            <a:r>
              <a:rPr sz="1000" b="1">
                <a:solidFill>
                  <a:srgbClr val="142A5A"/>
                </a:solidFill>
              </a:rPr>
              <a:t>TRACE</a:t>
            </a:r>
          </a:p>
          <a:p>
            <a:pPr algn="ctr"/>
            <a:r>
              <a:rPr sz="800">
                <a:solidFill>
                  <a:srgbClr val="444A55"/>
                </a:solidFill>
              </a:rPr>
              <a:t>frozen JSON schema</a:t>
            </a:r>
            <a:br/>
            <a:r>
              <a:rPr sz="800">
                <a:solidFill>
                  <a:srgbClr val="444A55"/>
                </a:solidFill>
              </a:rPr>
              <a:t>v1.1 contract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6217920" y="1655064"/>
            <a:ext cx="274320" cy="14630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565392" y="1335024"/>
            <a:ext cx="1700784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/>
            <a:r>
              <a:rPr sz="1000" b="1">
                <a:solidFill>
                  <a:srgbClr val="142A5A"/>
                </a:solidFill>
              </a:rPr>
              <a:t>ADVERSARY</a:t>
            </a:r>
          </a:p>
          <a:p>
            <a:pPr algn="ctr"/>
            <a:r>
              <a:rPr sz="800">
                <a:solidFill>
                  <a:srgbClr val="444A55"/>
                </a:solidFill>
              </a:rPr>
              <a:t>8 attacks as</a:t>
            </a:r>
            <a:br/>
            <a:r>
              <a:rPr sz="800">
                <a:solidFill>
                  <a:srgbClr val="444A55"/>
                </a:solidFill>
              </a:rPr>
              <a:t>spec-level transforms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8339327" y="1655064"/>
            <a:ext cx="274320" cy="14630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8686800" y="1335024"/>
            <a:ext cx="157276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/>
            <a:r>
              <a:rPr sz="1000" b="1">
                <a:solidFill>
                  <a:srgbClr val="142A5A"/>
                </a:solidFill>
              </a:rPr>
              <a:t>4 LAYERS</a:t>
            </a:r>
          </a:p>
          <a:p>
            <a:pPr algn="ctr"/>
            <a:r>
              <a:rPr sz="800">
                <a:solidFill>
                  <a:srgbClr val="444A55"/>
                </a:solidFill>
              </a:rPr>
              <a:t>L0 · L1 · L2 · L3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10332720" y="1655064"/>
            <a:ext cx="274320" cy="14630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10680192" y="1335024"/>
            <a:ext cx="1170432" cy="786384"/>
          </a:xfrm>
          <a:prstGeom prst="roundRect">
            <a:avLst>
              <a:gd name="adj" fmla="val 10000"/>
            </a:avLst>
          </a:prstGeom>
          <a:solidFill>
            <a:srgbClr val="F0F6FF"/>
          </a:solidFill>
          <a:ln w="1397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/>
            <a:r>
              <a:rPr sz="1000" b="1">
                <a:solidFill>
                  <a:srgbClr val="142A5A"/>
                </a:solidFill>
              </a:rPr>
              <a:t>VERDICT</a:t>
            </a:r>
          </a:p>
          <a:p>
            <a:pPr algn="ctr"/>
            <a:r>
              <a:rPr sz="800">
                <a:solidFill>
                  <a:srgbClr val="444A55"/>
                </a:solidFill>
              </a:rPr>
              <a:t>+ derivation</a:t>
            </a:r>
            <a:br/>
            <a:r>
              <a:rPr sz="800">
                <a:solidFill>
                  <a:srgbClr val="444A55"/>
                </a:solidFill>
              </a:rPr>
              <a:t>+ certificate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29184" y="2304288"/>
            <a:ext cx="2825496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57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713D"/>
                </a:solidFill>
              </a:rPr>
              <a:t>L0  CONFORMANCE   [NO THRESHOLD]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step order, register lifetime, single-use key material (sha256), freshness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5713D"/>
                </a:solidFill>
              </a:rPr>
              <a:t>catches: replay 1.000 · key-reuse 1.000 · unauthorised verification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FPR 0.000 by construction (400 runs, one ledger)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27832" y="2304288"/>
            <a:ext cx="2825496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42A5A"/>
                </a:solidFill>
              </a:rPr>
              <a:t>L1  CHANNEL STATS   [SERFLING]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decoy error rate per basis; tau inverted from Serfling, floor-relative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5713D"/>
                </a:solidFill>
              </a:rPr>
              <a:t>catches: intercept-resend 1.000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B91C1C"/>
                </a:solidFill>
              </a:rPr>
              <a:t>Pauli forgery 0.000 — structurally blind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26479" y="2304288"/>
            <a:ext cx="2825496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42A5A"/>
                </a:solidFill>
              </a:rPr>
              <a:t>L2  ENTANGLEMENT   [AZUMA]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randomly sampled Pauli stabilizer generators; CHSH 2sqrt2 vs bound 2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5713D"/>
                </a:solidFill>
              </a:rPr>
              <a:t>catches: resource substitution 1.000 at c=0.40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B91C1C"/>
                </a:solidFill>
              </a:rPr>
              <a:t>Pauli forgery 0.000 — resource untouched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9025128" y="2304288"/>
            <a:ext cx="2825496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91C1C"/>
                </a:solidFill>
              </a:rPr>
              <a:t>L3  ALGEBRAIC   [NO THRESHOLD]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solves GF(2) symplectic nullspace for invariant Pauli operators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B91C1C"/>
                </a:solidFill>
              </a:rPr>
              <a:t>Pauli forgery 1.000 + certificate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sound, NOT complete — finds attacks, never proves security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9184" y="3986784"/>
            <a:ext cx="5705856" cy="1225296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WHY STIM, NOT A STATEVECTOR SIMULATOR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Every gate in these protocols is Clifford, so stabilizer simulation is EXACT here, not an approximation — and costs O(n^2) instead of 2^n.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We verified this rather than assuming it: the target scheme's five-qubit resource state IS a stabilizer state — exactly 32 of 4^5 Paulis stabilise it, and Stim reproduced the state vector to 5.55e-17.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Statevector is retained only as a cross-check oracle at n&lt;=10. Three independent implementations agree.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44768" y="3986784"/>
            <a:ext cx="5705856" cy="1225296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THRESHOLD DISCIPLINE — NO MAGIC NUMBERS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No numeric threshold literal exists anywhere in the decision path. Every threshold is computed at runtime from a declared security parameter, the measured hardware floor and the sample size, via a NAMED inequality, and the UI shows the derivation: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tau = 0.146619 from Serfling with k=402, N=1608, alpha=1e-10, floor=0.0344238; flag iff (xbar - floor) &gt;= tau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Two of the four layers have no threshold at all.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29184" y="5321808"/>
            <a:ext cx="11521440" cy="896112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STACK  &amp;  PROCESS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Python 3.12 · Stim (stabilizer) · Qiskit Aer + an independent from-scratch statevector simulator as cross-check oracles · NumPy GF(2) symplectic layer · SciPy · FastAPI · vanilla-JS UI (offline, no CDN) · pytest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spec (YAML)  -&gt;  exact execution  -&gt;  trace  -&gt;  attack injection  -&gt;  four-layer analysis  -&gt;  certificate + derivation  -&gt;  evaluation matrix with Clopper-Pearson intervals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Hardware: entanglement/witness sub-circuit run on IBM ibm_kingston (Heron r2). Job da8up31qtnsc73d0v7h0, 4096 shots. Results committed and replayed from disk — we never demo live from a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2A5A"/>
                </a:solidFill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PauliGuard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15568"/>
            <a:ext cx="3749039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57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713D"/>
                </a:solidFill>
              </a:rPr>
              <a:t>FEASIBLE BECAUSE  (already demonstrated)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5713D"/>
                </a:solidFill>
              </a:rPr>
              <a:t>Built and running: 208 passing tests, 20 commits, 4 protocol schemes, live web UI.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Software only. Zero hardware cost. IBM Open Plan gives 10 min QPU/28 days; our circuits need seconds.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Clifford structure makes simulation exact and cheap, so we run real parameter ranges, not toy values.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Ground truth comes from OUTSIDE our code: published attack probabilities plus fixed physical constants (CHSH 2sqrt2, intercept-resend QBER 0.25, teleportation benchmark 2/3).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The PS attaches no dataset (Dataset Link: Public/Open), so external validation had to come from the literature. It does.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87952" y="1115568"/>
            <a:ext cx="3749039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91C1C"/>
                </a:solidFill>
              </a:rPr>
              <a:t>COULD BREAK BECAUSE  (named risks)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1C1C"/>
                </a:solidFill>
              </a:rPr>
              <a:t>R1 — the whole approach needed the target scheme's 5-qubit resource state to be a stabilizer state. If not, Stim is unusable and the GF(2) search collapses.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1C1C"/>
                </a:solidFill>
              </a:rPr>
              <a:t>Spec ambiguity — published schemes leave key length, reuse policy and dispute procedures undefined. An analysis is only as good as the spec.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1C1C"/>
                </a:solidFill>
              </a:rPr>
              <a:t>L3 is sound, not complete — it searches the Pauli group mod phase. A general adversary is an arbitrary CPTP map, outside the search. It says nothing about hash collisions.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1C1C"/>
                </a:solidFill>
              </a:rPr>
              <a:t>A judge supplies a non-Clifford gate the stabilizer backend cannot handle.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1C1C"/>
                </a:solidFill>
              </a:rPr>
              <a:t>QPU queue times are unpredictable.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46720" y="1115568"/>
            <a:ext cx="3803904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57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713D"/>
                </a:solidFill>
              </a:rPr>
              <a:t>HANDLED BY  (specific mitigations)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5713D"/>
                </a:solidFill>
              </a:rPr>
              <a:t>R1 RESOLVED YES before any simulator code was written. Brute force over all 4^5 Paulis found exactly 32 stabilisers; Stim agreed to 5.55e-17. Generators recorded.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5713D"/>
                </a:solidFill>
              </a:rPr>
              <a:t>Every spec must declare an assumed_fields list. The loader reports every field it had to assume — the ambiguity is a deliverable, not a hidden risk.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5713D"/>
                </a:solidFill>
              </a:rPr>
              <a:t>Stated on every certificate, in the module docstring and in the UI. Every emitted attack is confirmed by execution first, so precision is 1 by construction.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5713D"/>
                </a:solidFill>
              </a:rPr>
              <a:t>Rehearsed graceful degradation: the tool prints its own limitation and falls back; it does not crash. Malformed spec returns 400, never 500.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5713D"/>
                </a:solidFill>
              </a:rPr>
              <a:t>Jobs run in advance, committed with job IDs and calibration snapshots, replayed from disk.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3621024"/>
            <a:ext cx="5705856" cy="13898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57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713D"/>
                </a:solidFill>
              </a:rPr>
              <a:t>MEASURED: THE FIX WORKS, AND COSTS NOTHING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We do not propose a NEW scheme — in a field where expert schemes are broken with near-certainty, that is how a team loses the Q&amp;A. We propose fixes to EXISTING schemes and let the tool prove the attack is gone.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B91C1C"/>
                </a:solidFill>
              </a:rPr>
              <a:t>lu-2022 as published:  forgery succeeds 1.0000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5713D"/>
                </a:solidFill>
              </a:rPr>
              <a:t>lu-2022 + SWAP test, k=8:  forgery succeeds 0.0035  (analytic 2^-8 = 0.003906) — a 286x reduction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5713D"/>
                </a:solidFill>
              </a:rPr>
              <a:t>Honest acceptance stays 500/500 = 1.0000: the fix has ONE-SIDED ERROR and never falsely rejects a legitimate signature.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44768" y="3621024"/>
            <a:ext cx="5705856" cy="13898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WHY NO AI/ML — AND WHY THAT IS A STRENGTH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The PS forbids it. There is also a stronger reason.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44A55"/>
                </a:solidFill>
              </a:rPr>
              <a:t>No training data exists and none can. No teleportation-based QDS network exists anywhere, so every byte would come from our own simulator — an ML detector would learn our simulator's artefacts and report them as security.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44A55"/>
                </a:solidFill>
              </a:rPr>
              <a:t>The security claim is information-theoretic; a fitted threshold is not. Serfling and Azuma give distribution-free bounds that compose into the protocol's epsilon.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44A55"/>
                </a:solidFill>
              </a:rPr>
              <a:t>Refusing ML is what bought the impossibility result: we can prove no detector sees this attack because the method is analytic.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5120640"/>
            <a:ext cx="11521440" cy="10972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WHAT INDEPENDENT VERIFICATION CAUGHT  (evidence the process is real)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Every result was re-derived from first principles rather than trusting the test suite that shipped with the code. That caught three defects a green suite had hidden: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1. Single-use key enforcement keyed on key NAME flagged 399/400 HONEST runs. Fixed by binding to key material (sha256 per run); re-verified at 0/400.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2. A detection claim quietly used m=500 after being specified at m=200, rather than reporting that 30% corruption is mathematically undetectable at m=200. The limit is now a documented, tested property.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3. The evaluation matrix rendered a protocol-DEFEATED attack identically to a MISSED one. Measured, unpaired_pauli is accepted 0/300 — the protocol defeats it. The matrix now separates the two.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2A5A"/>
                </a:solidFill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PauliGuard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097280"/>
            <a:ext cx="11521440" cy="56692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444A55"/>
                </a:solidFill>
              </a:rPr>
              <a:t>HONEST SCOPE, STATED FIRST: no production QDS infrastructure anywhere runs a teleportation-based arbitrated scheme. We make no claim to protect deployed systems today. The impact is on the research and standardisation pipeline that decides which protocols get adopted — and that is a real, dated, citable problem.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773936"/>
            <a:ext cx="1700784" cy="274320"/>
          </a:xfrm>
          <a:prstGeom prst="roundRect">
            <a:avLst>
              <a:gd name="adj" fmla="val 4000"/>
            </a:avLst>
          </a:prstGeom>
          <a:solidFill>
            <a:srgbClr val="142A5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11479" y="1819656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BENEFICIARY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103120" y="1773936"/>
            <a:ext cx="2578608" cy="274320"/>
          </a:xfrm>
          <a:prstGeom prst="roundRect">
            <a:avLst>
              <a:gd name="adj" fmla="val 4000"/>
            </a:avLst>
          </a:prstGeom>
          <a:solidFill>
            <a:srgbClr val="142A5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2185415" y="1819656"/>
            <a:ext cx="241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754880" y="1773936"/>
            <a:ext cx="7095744" cy="274320"/>
          </a:xfrm>
          <a:prstGeom prst="roundRect">
            <a:avLst>
              <a:gd name="adj" fmla="val 4000"/>
            </a:avLst>
          </a:prstGeom>
          <a:solidFill>
            <a:srgbClr val="142A5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837176" y="1819656"/>
            <a:ext cx="69311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SUPPORTING EVIDENCE  (number + source)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9184" y="2103120"/>
            <a:ext cx="1700784" cy="859536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Protocol designers &amp;</a:t>
            </a:r>
            <a:br/>
            <a:r>
              <a:rPr sz="950" b="1">
                <a:solidFill>
                  <a:srgbClr val="444A55"/>
                </a:solidFill>
              </a:rPr>
              <a:t>journal reviewers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103120" y="2103120"/>
            <a:ext cx="2578608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Screen a candidate scheme in minutes instead of years, before publication or adoption.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754880" y="2103120"/>
            <a:ext cx="709574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Cryptanalysis of these schemes currently runs at a 2-5 year lag: Zeng-Keitel (PRA 65, 042312, 2002) broken by Zou &amp; Qiu (PRA 82, 042325, 2010). Four more schemes (2017-2024) broken by Jacqmin &amp; Lienardy, March 2026.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3017520"/>
            <a:ext cx="1700784" cy="859536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National quantum</a:t>
            </a:r>
            <a:br/>
            <a:r>
              <a:rPr sz="950" b="1">
                <a:solidFill>
                  <a:srgbClr val="444A55"/>
                </a:solidFill>
              </a:rPr>
              <a:t>programmes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103120" y="3017520"/>
            <a:ext cx="2578608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Screen candidate protocols before adoption rather than discovering breaks afterwards.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754880" y="3017520"/>
            <a:ext cx="709574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The March 2026 analysis of four schemes required a defence research grant at a military academy. PauliGuard reproduces that class of analysis from a spec file automatically.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9184" y="3931920"/>
            <a:ext cx="1700784" cy="859536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Egreen Quanta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103120" y="3931920"/>
            <a:ext cx="2578608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A triage instrument: it tells you WHICH failure mode a candidate protocol has.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754880" y="3931920"/>
            <a:ext cx="709574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Measured contrast across lineages: on decoy-state QDS the algebraic layer returns 0 certificates and statistics do the work; on teleportation AQS it is exactly reversed (L3 1.000, L1 0.000).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9184" y="4846320"/>
            <a:ext cx="1700784" cy="859536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The wider field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2103120" y="4846320"/>
            <a:ext cx="2578608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The three threats the PS does not name are the defining goals of an arbitrated signature.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754880" y="4846320"/>
            <a:ext cx="7095744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444A55"/>
                </a:solidFill>
              </a:rPr>
              <a:t>Repudiation of origin, repudiation of receipt and false allegation. Our analyser flags both AQS schemes with RECEIPT_UNBOUND + FALSE_ALLEGATION, claimed_by_scheme=True: they CLAIM the goal their own spec cannot support.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29184" y="5779008"/>
            <a:ext cx="11521440" cy="457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444A55"/>
                </a:solidFill>
              </a:rPr>
              <a:t>SUSTAINABILITY: the spec format is the compounding asset — each new scheme is hours of work, not a rewrite, and permanently expands the catalogue. NO economic impact figure is claimed, because none can be honestly derived for a technology with zero deployments.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2A5A"/>
                </a:solidFill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A5A"/>
          </a:solidFill>
          <a:ln>
            <a:solidFill>
              <a:srgbClr val="142A5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PauliGuard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078992"/>
            <a:ext cx="5669280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42A5A"/>
                </a:solidFill>
              </a:rPr>
              <a:t>PRIMARY SOURCES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444A55"/>
                </a:solidFill>
              </a:rPr>
              <a:t>P.-A. Jacqmin, J. Lienardy. Cryptanalysis of four arbitrated quantum signature schemes. arXiv:2603.19985 / ePrint 2026/558 (23 Mar 2026), Royal Military Academy Brussels.  — the paper this project is built on; supplies the probability-1 forgery and the 1/(8n) bound.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444A55"/>
                </a:solidFill>
              </a:rPr>
              <a:t>D. Lu, Z. Li, J. Yu, Z. Han. A verifiable arbitrated quantum signature scheme based on controlled quantum teleportation. Entropy 24, 111 (2022). doi:10.3390/e24010111  — primary target scheme.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444A55"/>
                </a:solidFill>
              </a:rPr>
              <a:t>Q. Li, W. H. Chan, D.-Y. Long. Arbitrated quantum signature scheme using Bell states. Phys. Rev. A 79, 054307 (2009). doi:10.1103/PhysRevA.79.054307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444A55"/>
                </a:solidFill>
              </a:rPr>
              <a:t>F. Gao, S.-J. Qin, F.-Z. Guo, Q.-Y. Wen. Cryptanalysis of the arbitrated quantum signature protocols. Phys. Rev. A 84, 022344 (2011). doi:10.1103/PhysRevA.84.022344  — QOTP malleability enables receiver forgery.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444A55"/>
                </a:solidFill>
              </a:rPr>
              <a:t>J. W. Choi, K.-Y. Chang, D. Hong. Security problem on arbitrated quantum signature schemes. Phys. Rev. A 84, 062330 (2011). doi:10.1103/PhysRevA.84.062330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444A55"/>
                </a:solidFill>
              </a:rPr>
              <a:t>D. Gottesman, I. Chuang. Quantum digital signatures. arXiv:quant-ph/0105032 (2001).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444A55"/>
                </a:solidFill>
              </a:rPr>
              <a:t>C. Gidney. Stim: a fast stabilizer circuit simulator. Quantum 5, 497 (2021). doi:10.22331/q-2021-07-06-497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44768" y="1078992"/>
            <a:ext cx="5705856" cy="1243584"/>
          </a:xfrm>
          <a:prstGeom prst="roundRect">
            <a:avLst>
              <a:gd name="adj" fmla="val 4000"/>
            </a:avLst>
          </a:prstGeom>
          <a:solidFill>
            <a:srgbClr val="F2FBF5"/>
          </a:solidFill>
          <a:ln w="12700">
            <a:solidFill>
              <a:srgbClr val="157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713D"/>
                </a:solidFill>
              </a:rPr>
              <a:t>EXTERNAL VALIDATION — WE REPRODUCE A PUBLISHED RESULT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We obtained arXiv:2603.19985 and implemented its exact three-layer KCCC encryption. Enumerating the FULL keyspace (n!·4^n), our independent count recovers the paper's three key conditions exactly: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44A55"/>
                </a:solidFill>
              </a:rPr>
              <a:t>Pr(k1(1)=1) = 1/n · Pr(k2_1=0) = 1/2 · Pr(tau_1=0) = 1/2 — joint = 1/(4n) exactly (1/8, 1/12, 1/16 at n=2,3,4).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444A55"/>
                </a:solidFill>
              </a:rPr>
              <a:t>Their lower bound 1/(8n) holds at every n. This number was derived by other people and published in March 2026; we never had their code.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44768" y="2432304"/>
            <a:ext cx="5705856" cy="566928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91C1C"/>
                </a:solidFill>
              </a:rPr>
              <a:t>PROOF OF LIFE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44A55"/>
                </a:solidFill>
              </a:rPr>
              <a:t>Repository (source, 208 tests, 4 schemes, evaluation matrix):  github.com/harshwardhan-kp/pauliguard-v2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44A55"/>
                </a:solidFill>
              </a:rPr>
              <a:t>Run it:  .venv/bin/python -m pytest -q   ·   .venv/bin/python -m pauliguard.evaluation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9184" y="3602736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42A5A"/>
                </a:solidFill>
              </a:rPr>
              <a:t>MEASURED RESULTS   (n=300 per cell, Clopper-Pearson 95% CI)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9184" y="3877056"/>
            <a:ext cx="2926080" cy="214884"/>
          </a:xfrm>
          <a:prstGeom prst="rect">
            <a:avLst/>
          </a:prstGeom>
          <a:solidFill>
            <a:srgbClr val="142A5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/>
            <a:r>
              <a:rPr sz="860" b="1">
                <a:solidFill>
                  <a:srgbClr val="FFFFFF"/>
                </a:solidFill>
              </a:rPr>
              <a:t>ATTACK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255264" y="3877056"/>
            <a:ext cx="658368" cy="214884"/>
          </a:xfrm>
          <a:prstGeom prst="rect">
            <a:avLst/>
          </a:prstGeom>
          <a:solidFill>
            <a:srgbClr val="142A5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FFFFFF"/>
                </a:solidFill>
              </a:rPr>
              <a:t>L0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913632" y="3877056"/>
            <a:ext cx="658368" cy="214884"/>
          </a:xfrm>
          <a:prstGeom prst="rect">
            <a:avLst/>
          </a:prstGeom>
          <a:solidFill>
            <a:srgbClr val="142A5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572000" y="3877056"/>
            <a:ext cx="658368" cy="214884"/>
          </a:xfrm>
          <a:prstGeom prst="rect">
            <a:avLst/>
          </a:prstGeom>
          <a:solidFill>
            <a:srgbClr val="142A5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5230368" y="3877056"/>
            <a:ext cx="658368" cy="214884"/>
          </a:xfrm>
          <a:prstGeom prst="rect">
            <a:avLst/>
          </a:prstGeom>
          <a:solidFill>
            <a:srgbClr val="142A5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9184" y="4091940"/>
            <a:ext cx="292608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/>
            <a:r>
              <a:rPr sz="860" b="0">
                <a:solidFill>
                  <a:srgbClr val="444A55"/>
                </a:solidFill>
              </a:rPr>
              <a:t>paired-Pauli forgery  (succeeds 1.000)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255264" y="4091940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913632" y="4091940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B91C1C"/>
                </a:solidFill>
              </a:rPr>
              <a:t>0.000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4572000" y="4091940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B91C1C"/>
                </a:solidFill>
              </a:rPr>
              <a:t>0.000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230368" y="4091940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15713D"/>
                </a:solidFill>
              </a:rPr>
              <a:t>1.000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329184" y="4306824"/>
            <a:ext cx="2926080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/>
            <a:r>
              <a:rPr sz="860" b="0">
                <a:solidFill>
                  <a:srgbClr val="444A55"/>
                </a:solidFill>
              </a:rPr>
              <a:t>intercept-resend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255264" y="4306824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913632" y="4306824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15713D"/>
                </a:solidFill>
              </a:rPr>
              <a:t>1.000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4572000" y="4306824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5230368" y="4306824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29184" y="4521708"/>
            <a:ext cx="292608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/>
            <a:r>
              <a:rPr sz="860" b="0">
                <a:solidFill>
                  <a:srgbClr val="444A55"/>
                </a:solidFill>
              </a:rPr>
              <a:t>replay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3255264" y="4521708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15713D"/>
                </a:solidFill>
              </a:rPr>
              <a:t>1.000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3913632" y="4521708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572000" y="4521708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5230368" y="4521708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329184" y="4736592"/>
            <a:ext cx="2926080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/>
            <a:r>
              <a:rPr sz="860" b="0">
                <a:solidFill>
                  <a:srgbClr val="444A55"/>
                </a:solidFill>
              </a:rPr>
              <a:t>key reuse (same key material)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255264" y="4736592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1">
                <a:solidFill>
                  <a:srgbClr val="15713D"/>
                </a:solidFill>
              </a:rPr>
              <a:t>1.000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3913632" y="4736592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4572000" y="4736592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5230368" y="4736592"/>
            <a:ext cx="658368" cy="214884"/>
          </a:xfrm>
          <a:prstGeom prst="rect">
            <a:avLst/>
          </a:prstGeom>
          <a:solidFill>
            <a:srgbClr val="F7F8FA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29184" y="4951476"/>
            <a:ext cx="2926080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/>
            <a:r>
              <a:rPr sz="860" b="0">
                <a:solidFill>
                  <a:srgbClr val="444A55"/>
                </a:solidFill>
              </a:rPr>
              <a:t>honest runs  (false-positive rate)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3255264" y="4951476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3913632" y="4951476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4572000" y="4951476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5230368" y="4951476"/>
            <a:ext cx="658368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ctr"/>
            <a:r>
              <a:rPr sz="860" b="0">
                <a:solidFill>
                  <a:srgbClr val="444A55"/>
                </a:solidFill>
              </a:rPr>
              <a:t>0.000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29184" y="5212080"/>
            <a:ext cx="5669280" cy="10058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14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82296" tIns="64008"/>
          <a:lstStyle/>
          <a:p>
            <a:pPr algn="ctr">
              <a:spcAft>
                <a:spcPts val="200"/>
              </a:spcAft>
            </a:pPr>
            <a:r>
              <a:rPr sz="860" b="1">
                <a:solidFill>
                  <a:srgbClr val="B91C1C"/>
                </a:solidFill>
              </a:rPr>
              <a:t>The zeros are the finding, not a failure. L1 and L2 are correct implementations of the method the PS prescribes; they are structurally blind to an internal adversary exploiting an algebraic symmetry, and we prove why.</a:t>
            </a:r>
          </a:p>
          <a:p>
            <a:pPr>
              <a:spcAft>
                <a:spcPts val="200"/>
              </a:spcAft>
            </a:pPr>
            <a:r>
              <a:rPr sz="860" b="0">
                <a:solidFill>
                  <a:srgbClr val="444A55"/>
                </a:solidFill>
              </a:rPr>
              <a:t>FPR stays 0.000 at noise p = 0, 0.001, 0.01 and 0.05. No aggregate accuracy figure is reported anywhere — with a mostly-honest run distribution it is dominated by the base rate and means nothing.</a:t>
            </a:r>
          </a:p>
          <a:p>
            <a:pPr>
              <a:spcAft>
                <a:spcPts val="200"/>
              </a:spcAft>
            </a:pPr>
            <a:r>
              <a:rPr sz="860" b="1">
                <a:solidFill>
                  <a:srgbClr val="444A55"/>
                </a:solidFill>
              </a:rPr>
              <a:t>The published PS ends with the literal placeholder "Add 'Delivery Table (Expected Deliverables)' here". We inferred D1-D8 from the Objectives and Expected Solution and map each to its source sentence.</a:t>
            </a:r>
          </a:p>
        </p:txBody>
      </p:sp>
      <p:pic>
        <p:nvPicPr>
          <p:cNvPr id="17445" name="Picture 17444" descr="pauliguard-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108960"/>
            <a:ext cx="4846320" cy="2913561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6144768" y="6077385"/>
            <a:ext cx="570585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0">
                <a:solidFill>
                  <a:srgbClr val="444A55"/>
                </a:solidFill>
              </a:rPr>
              <a:t>Live UI, honest vs forged in lockstep: SIGNATURE ACCEPTED, message CHANGED ([0,1] -&gt; [1,1]), decoy error rates identical at 0.03310. L0/L1/L2 green; L3 red with a certificate confirmed by execution 16/16.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